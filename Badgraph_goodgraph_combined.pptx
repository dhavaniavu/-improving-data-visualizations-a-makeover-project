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6" r:id="rId1"/>
  </p:sldMasterIdLst>
  <p:notesMasterIdLst>
    <p:notesMasterId r:id="rId29"/>
  </p:notesMasterIdLst>
  <p:sldIdLst>
    <p:sldId id="291" r:id="rId2"/>
    <p:sldId id="256" r:id="rId3"/>
    <p:sldId id="257" r:id="rId4"/>
    <p:sldId id="258" r:id="rId5"/>
    <p:sldId id="259" r:id="rId6"/>
    <p:sldId id="261" r:id="rId7"/>
    <p:sldId id="266" r:id="rId8"/>
    <p:sldId id="267" r:id="rId9"/>
    <p:sldId id="269" r:id="rId10"/>
    <p:sldId id="268" r:id="rId11"/>
    <p:sldId id="271" r:id="rId12"/>
    <p:sldId id="272" r:id="rId13"/>
    <p:sldId id="273" r:id="rId14"/>
    <p:sldId id="274" r:id="rId15"/>
    <p:sldId id="275" r:id="rId16"/>
    <p:sldId id="277" r:id="rId17"/>
    <p:sldId id="276" r:id="rId18"/>
    <p:sldId id="278" r:id="rId19"/>
    <p:sldId id="279" r:id="rId20"/>
    <p:sldId id="280" r:id="rId21"/>
    <p:sldId id="281" r:id="rId22"/>
    <p:sldId id="282" r:id="rId23"/>
    <p:sldId id="283" r:id="rId24"/>
    <p:sldId id="284" r:id="rId25"/>
    <p:sldId id="285" r:id="rId26"/>
    <p:sldId id="286" r:id="rId27"/>
    <p:sldId id="288" r:id="rId28"/>
  </p:sldIdLst>
  <p:sldSz cx="12192000" cy="6858000"/>
  <p:notesSz cx="12192000" cy="6858000"/>
  <p:embeddedFontLst>
    <p:embeddedFont>
      <p:font typeface="Gill Sans MT" panose="020B0502020104020203" pitchFamily="34" charset="77"/>
      <p:regular r:id="rId30"/>
      <p:bold r:id="rId31"/>
      <p:italic r:id="rId32"/>
      <p:boldItalic r:id="rId33"/>
    </p:embeddedFont>
    <p:embeddedFont>
      <p:font typeface="Impact" panose="020B0806030902050204" pitchFamily="34" charset="0"/>
      <p:regular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3"/>
  </p:normalViewPr>
  <p:slideViewPr>
    <p:cSldViewPr>
      <p:cViewPr varScale="1">
        <p:scale>
          <a:sx n="105" d="100"/>
          <a:sy n="105" d="100"/>
        </p:scale>
        <p:origin x="840"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A528F0B-0418-814A-9F9C-90DB6520C01D}" type="datetimeFigureOut">
              <a:rPr lang="en-US" smtClean="0"/>
              <a:t>4/14/25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FE41A27-A4EA-E846-AB52-B32BC1E6E3B3}" type="slidenum">
              <a:rPr lang="en-US" smtClean="0"/>
              <a:t>‹#›</a:t>
            </a:fld>
            <a:endParaRPr lang="en-US"/>
          </a:p>
        </p:txBody>
      </p:sp>
    </p:spTree>
    <p:extLst>
      <p:ext uri="{BB962C8B-B14F-4D97-AF65-F5344CB8AC3E}">
        <p14:creationId xmlns:p14="http://schemas.microsoft.com/office/powerpoint/2010/main" val="3073470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E41A27-A4EA-E846-AB52-B32BC1E6E3B3}" type="slidenum">
              <a:rPr lang="en-US" smtClean="0"/>
              <a:t>1</a:t>
            </a:fld>
            <a:endParaRPr lang="en-US"/>
          </a:p>
        </p:txBody>
      </p:sp>
    </p:spTree>
    <p:extLst>
      <p:ext uri="{BB962C8B-B14F-4D97-AF65-F5344CB8AC3E}">
        <p14:creationId xmlns:p14="http://schemas.microsoft.com/office/powerpoint/2010/main" val="3452416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D8BD707-D9CF-40AE-B4C6-C98DA3205C09}" type="datetimeFigureOut">
              <a:rPr lang="en-US" smtClean="0"/>
              <a:t>4/14/25</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B6F15528-21DE-4FAA-801E-634DDDAF4B2B}"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29551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580194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1D8BD707-D9CF-40AE-B4C6-C98DA3205C09}" type="datetimeFigureOut">
              <a:rPr lang="en-US" smtClean="0"/>
              <a:t>4/14/25</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B6F15528-21DE-4FAA-801E-634DDDAF4B2B}"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7183999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010948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4/14/25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583285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4/14/25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79785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67976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1D8BD707-D9CF-40AE-B4C6-C98DA3205C09}" type="datetimeFigureOut">
              <a:rPr lang="en-US" smtClean="0"/>
              <a:t>4/14/25</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B6F15528-21DE-4FAA-801E-634DDDAF4B2B}"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59299813"/>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1D8BD707-D9CF-40AE-B4C6-C98DA3205C09}" type="datetimeFigureOut">
              <a:rPr lang="en-US" smtClean="0"/>
              <a:t>4/14/25</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96670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809067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3470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4/14/25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983130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1D8BD707-D9CF-40AE-B4C6-C98DA3205C09}" type="datetimeFigureOut">
              <a:rPr lang="en-US" smtClean="0"/>
              <a:t>4/14/25</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B6F15528-21DE-4FAA-801E-634DDDAF4B2B}"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02777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1DF61F47-37EC-408A-BDC8-E491FB5E5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0" name="Rectangle 9">
            <a:extLst>
              <a:ext uri="{FF2B5EF4-FFF2-40B4-BE49-F238E27FC236}">
                <a16:creationId xmlns:a16="http://schemas.microsoft.com/office/drawing/2014/main" id="{68157995-9098-42A2-8E36-8BA9015D7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2" name="Rectangle 11">
            <a:extLst>
              <a:ext uri="{FF2B5EF4-FFF2-40B4-BE49-F238E27FC236}">
                <a16:creationId xmlns:a16="http://schemas.microsoft.com/office/drawing/2014/main" id="{CFC012A5-170D-4B0F-A916-A8EE2C6CE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F40654-5E8C-468A-9596-50927AF1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598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0B1BD4A-8DE6-4266-9C27-59260F938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43467" cy="6858000"/>
          </a:xfrm>
          <a:prstGeom prst="rect">
            <a:avLst/>
          </a:prstGeom>
          <a:solidFill>
            <a:schemeClr val="accent1">
              <a:lumMod val="75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Text Placeholder 2">
            <a:extLst>
              <a:ext uri="{FF2B5EF4-FFF2-40B4-BE49-F238E27FC236}">
                <a16:creationId xmlns:a16="http://schemas.microsoft.com/office/drawing/2014/main" id="{5D7A7092-FF1E-4519-DC09-C16A6834E380}"/>
              </a:ext>
            </a:extLst>
          </p:cNvPr>
          <p:cNvSpPr>
            <a:spLocks noGrp="1"/>
          </p:cNvSpPr>
          <p:nvPr>
            <p:ph type="body" idx="1"/>
          </p:nvPr>
        </p:nvSpPr>
        <p:spPr>
          <a:xfrm>
            <a:off x="3828580" y="1354945"/>
            <a:ext cx="7601419" cy="4148110"/>
          </a:xfrm>
        </p:spPr>
        <p:txBody>
          <a:bodyPr vert="horz" lIns="91440" tIns="45720" rIns="91440" bIns="45720" rtlCol="0" anchor="ctr">
            <a:normAutofit/>
          </a:bodyPr>
          <a:lstStyle/>
          <a:p>
            <a:pPr marL="0" indent="0">
              <a:buNone/>
            </a:pPr>
            <a:r>
              <a:rPr lang="en-US" sz="3600" dirty="0"/>
              <a:t>DATA VISUALIZATION RE-DESIGN</a:t>
            </a:r>
          </a:p>
        </p:txBody>
      </p:sp>
      <p:pic>
        <p:nvPicPr>
          <p:cNvPr id="4" name="Picture 3">
            <a:extLst>
              <a:ext uri="{FF2B5EF4-FFF2-40B4-BE49-F238E27FC236}">
                <a16:creationId xmlns:a16="http://schemas.microsoft.com/office/drawing/2014/main" id="{359068BC-BC71-E304-CE83-F7BED3090692}"/>
              </a:ext>
            </a:extLst>
          </p:cNvPr>
          <p:cNvPicPr>
            <a:picLocks noChangeAspect="1"/>
          </p:cNvPicPr>
          <p:nvPr/>
        </p:nvPicPr>
        <p:blipFill>
          <a:blip r:embed="rId3"/>
          <a:stretch>
            <a:fillRect/>
          </a:stretch>
        </p:blipFill>
        <p:spPr>
          <a:xfrm>
            <a:off x="-8756" y="0"/>
            <a:ext cx="12192000" cy="6869418"/>
          </a:xfrm>
          <a:prstGeom prst="rect">
            <a:avLst/>
          </a:prstGeom>
        </p:spPr>
      </p:pic>
    </p:spTree>
    <p:extLst>
      <p:ext uri="{BB962C8B-B14F-4D97-AF65-F5344CB8AC3E}">
        <p14:creationId xmlns:p14="http://schemas.microsoft.com/office/powerpoint/2010/main" val="7336256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Freeform 6">
            <a:extLst>
              <a:ext uri="{FF2B5EF4-FFF2-40B4-BE49-F238E27FC236}">
                <a16:creationId xmlns:a16="http://schemas.microsoft.com/office/drawing/2014/main" id="{84574769-622A-4DC6-9C80-C21D1899F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7" name="Rectangle 16">
            <a:extLst>
              <a:ext uri="{FF2B5EF4-FFF2-40B4-BE49-F238E27FC236}">
                <a16:creationId xmlns:a16="http://schemas.microsoft.com/office/drawing/2014/main" id="{AE0022E2-857A-4FF7-B6FA-C9DC7E280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 name="Picture 2">
            <a:extLst>
              <a:ext uri="{FF2B5EF4-FFF2-40B4-BE49-F238E27FC236}">
                <a16:creationId xmlns:a16="http://schemas.microsoft.com/office/drawing/2014/main" id="{E1DED914-456A-0020-9294-38C25CA1F0FA}"/>
              </a:ext>
            </a:extLst>
          </p:cNvPr>
          <p:cNvPicPr>
            <a:picLocks noChangeAspect="1"/>
          </p:cNvPicPr>
          <p:nvPr/>
        </p:nvPicPr>
        <p:blipFill>
          <a:blip r:embed="rId2"/>
          <a:srcRect t="10927" b="6656"/>
          <a:stretch/>
        </p:blipFill>
        <p:spPr>
          <a:xfrm>
            <a:off x="20" y="0"/>
            <a:ext cx="12191980" cy="6857990"/>
          </a:xfrm>
          <a:prstGeom prst="rect">
            <a:avLst/>
          </a:prstGeom>
        </p:spPr>
      </p:pic>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7DE7DB34-0985-6F15-4656-EF98E67D01BF}"/>
              </a:ext>
            </a:extLst>
          </p:cNvPr>
          <p:cNvPicPr>
            <a:picLocks noChangeAspect="1"/>
          </p:cNvPicPr>
          <p:nvPr/>
        </p:nvPicPr>
        <p:blipFill>
          <a:blip r:embed="rId3"/>
          <a:stretch>
            <a:fillRect/>
          </a:stretch>
        </p:blipFill>
        <p:spPr>
          <a:xfrm>
            <a:off x="-13336" y="0"/>
            <a:ext cx="12205336" cy="68403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2E186C33-41C9-B44D-0EEE-275BCBCFE2C5}"/>
              </a:ext>
            </a:extLst>
          </p:cNvPr>
          <p:cNvPicPr>
            <a:picLocks noChangeAspect="1"/>
          </p:cNvPicPr>
          <p:nvPr/>
        </p:nvPicPr>
        <p:blipFill>
          <a:blip r:embed="rId3"/>
          <a:stretch>
            <a:fillRect/>
          </a:stretch>
        </p:blipFill>
        <p:spPr>
          <a:xfrm>
            <a:off x="23600" y="9160"/>
            <a:ext cx="12192000" cy="68328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6094257A-D48A-2C62-6026-37A6A60CE55D}"/>
              </a:ext>
            </a:extLst>
          </p:cNvPr>
          <p:cNvPicPr>
            <a:picLocks noChangeAspect="1"/>
          </p:cNvPicPr>
          <p:nvPr/>
        </p:nvPicPr>
        <p:blipFill>
          <a:blip r:embed="rId3"/>
          <a:stretch>
            <a:fillRect/>
          </a:stretch>
        </p:blipFill>
        <p:spPr>
          <a:xfrm>
            <a:off x="0" y="0"/>
            <a:ext cx="12192000" cy="68815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CCDE367E-B5EA-D70F-181F-64E887512481}"/>
              </a:ext>
            </a:extLst>
          </p:cNvPr>
          <p:cNvPicPr>
            <a:picLocks noChangeAspect="1"/>
          </p:cNvPicPr>
          <p:nvPr/>
        </p:nvPicPr>
        <p:blipFill>
          <a:blip r:embed="rId3"/>
          <a:stretch>
            <a:fillRect/>
          </a:stretch>
        </p:blipFill>
        <p:spPr>
          <a:xfrm>
            <a:off x="11440" y="0"/>
            <a:ext cx="12180560" cy="686297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AF3893D1-AC83-7365-A481-4AA4098E3E38}"/>
              </a:ext>
            </a:extLst>
          </p:cNvPr>
          <p:cNvPicPr>
            <a:picLocks noChangeAspect="1"/>
          </p:cNvPicPr>
          <p:nvPr/>
        </p:nvPicPr>
        <p:blipFill>
          <a:blip r:embed="rId3"/>
          <a:stretch>
            <a:fillRect/>
          </a:stretch>
        </p:blipFill>
        <p:spPr>
          <a:xfrm>
            <a:off x="0" y="0"/>
            <a:ext cx="12288688" cy="68855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187BC012-06E9-59B8-051E-43E2F17717A3}"/>
              </a:ext>
            </a:extLst>
          </p:cNvPr>
          <p:cNvPicPr>
            <a:picLocks noChangeAspect="1"/>
          </p:cNvPicPr>
          <p:nvPr/>
        </p:nvPicPr>
        <p:blipFill>
          <a:blip r:embed="rId3"/>
          <a:stretch>
            <a:fillRect/>
          </a:stretch>
        </p:blipFill>
        <p:spPr>
          <a:xfrm>
            <a:off x="0" y="-1"/>
            <a:ext cx="12192000" cy="685190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1BD44660-80C9-88E0-1825-A371608BE0B9}"/>
              </a:ext>
            </a:extLst>
          </p:cNvPr>
          <p:cNvPicPr>
            <a:picLocks noChangeAspect="1"/>
          </p:cNvPicPr>
          <p:nvPr/>
        </p:nvPicPr>
        <p:blipFill>
          <a:blip r:embed="rId3"/>
          <a:stretch>
            <a:fillRect/>
          </a:stretch>
        </p:blipFill>
        <p:spPr>
          <a:xfrm>
            <a:off x="0" y="0"/>
            <a:ext cx="12192000" cy="68572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0D0A264C-65B8-7854-7D7B-A89384F55D91}"/>
              </a:ext>
            </a:extLst>
          </p:cNvPr>
          <p:cNvPicPr>
            <a:picLocks noChangeAspect="1"/>
          </p:cNvPicPr>
          <p:nvPr/>
        </p:nvPicPr>
        <p:blipFill>
          <a:blip r:embed="rId3"/>
          <a:stretch>
            <a:fillRect/>
          </a:stretch>
        </p:blipFill>
        <p:spPr>
          <a:xfrm>
            <a:off x="6080" y="0"/>
            <a:ext cx="12185920" cy="68454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pic>
        <p:nvPicPr>
          <p:cNvPr id="3" name="Picture 2">
            <a:extLst>
              <a:ext uri="{FF2B5EF4-FFF2-40B4-BE49-F238E27FC236}">
                <a16:creationId xmlns:a16="http://schemas.microsoft.com/office/drawing/2014/main" id="{3EE73EFE-7F39-DE21-43D1-88BDCEE664CC}"/>
              </a:ext>
            </a:extLst>
          </p:cNvPr>
          <p:cNvPicPr>
            <a:picLocks noChangeAspect="1"/>
          </p:cNvPicPr>
          <p:nvPr/>
        </p:nvPicPr>
        <p:blipFill>
          <a:blip r:embed="rId3"/>
          <a:stretch>
            <a:fillRect/>
          </a:stretch>
        </p:blipFill>
        <p:spPr>
          <a:xfrm>
            <a:off x="0" y="0"/>
            <a:ext cx="12183896" cy="6858000"/>
          </a:xfrm>
          <a:prstGeom prst="rect">
            <a:avLst/>
          </a:prstGeom>
        </p:spPr>
      </p:pic>
      <p:pic>
        <p:nvPicPr>
          <p:cNvPr id="4" name="Picture 3">
            <a:extLst>
              <a:ext uri="{FF2B5EF4-FFF2-40B4-BE49-F238E27FC236}">
                <a16:creationId xmlns:a16="http://schemas.microsoft.com/office/drawing/2014/main" id="{2A4F825E-BFAC-90E3-B230-68E8251A1083}"/>
              </a:ext>
            </a:extLst>
          </p:cNvPr>
          <p:cNvPicPr>
            <a:picLocks noChangeAspect="1"/>
          </p:cNvPicPr>
          <p:nvPr/>
        </p:nvPicPr>
        <p:blipFill>
          <a:blip r:embed="rId4"/>
          <a:stretch>
            <a:fillRect/>
          </a:stretch>
        </p:blipFill>
        <p:spPr>
          <a:xfrm>
            <a:off x="-21409" y="1152"/>
            <a:ext cx="12222547" cy="68568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pic>
        <p:nvPicPr>
          <p:cNvPr id="3" name="Picture 2">
            <a:extLst>
              <a:ext uri="{FF2B5EF4-FFF2-40B4-BE49-F238E27FC236}">
                <a16:creationId xmlns:a16="http://schemas.microsoft.com/office/drawing/2014/main" id="{252F4025-6912-4008-A8D5-8A5E283362FD}"/>
              </a:ext>
            </a:extLst>
          </p:cNvPr>
          <p:cNvPicPr>
            <a:picLocks noChangeAspect="1"/>
          </p:cNvPicPr>
          <p:nvPr/>
        </p:nvPicPr>
        <p:blipFill>
          <a:blip r:embed="rId3"/>
          <a:stretch>
            <a:fillRect/>
          </a:stretch>
        </p:blipFill>
        <p:spPr>
          <a:xfrm>
            <a:off x="0" y="0"/>
            <a:ext cx="12258678"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10689"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Rectangle 2">
            <a:extLst>
              <a:ext uri="{FF2B5EF4-FFF2-40B4-BE49-F238E27FC236}">
                <a16:creationId xmlns:a16="http://schemas.microsoft.com/office/drawing/2014/main" id="{138349EE-C81A-A53D-6E53-8C0D1EA21EBD}"/>
              </a:ext>
            </a:extLst>
          </p:cNvPr>
          <p:cNvSpPr/>
          <p:nvPr/>
        </p:nvSpPr>
        <p:spPr>
          <a:xfrm>
            <a:off x="911424" y="764704"/>
            <a:ext cx="1152128"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CASE 4</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Rectangle 2">
            <a:extLst>
              <a:ext uri="{FF2B5EF4-FFF2-40B4-BE49-F238E27FC236}">
                <a16:creationId xmlns:a16="http://schemas.microsoft.com/office/drawing/2014/main" id="{83C53578-195E-527E-CEFF-27F20DF55FCA}"/>
              </a:ext>
            </a:extLst>
          </p:cNvPr>
          <p:cNvSpPr/>
          <p:nvPr/>
        </p:nvSpPr>
        <p:spPr>
          <a:xfrm>
            <a:off x="335360" y="404664"/>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Case 5</a:t>
            </a: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Rectangle 2">
            <a:extLst>
              <a:ext uri="{FF2B5EF4-FFF2-40B4-BE49-F238E27FC236}">
                <a16:creationId xmlns:a16="http://schemas.microsoft.com/office/drawing/2014/main" id="{CED4445A-D447-B386-D551-05ACA6D50C7A}"/>
              </a:ext>
            </a:extLst>
          </p:cNvPr>
          <p:cNvSpPr/>
          <p:nvPr/>
        </p:nvSpPr>
        <p:spPr>
          <a:xfrm>
            <a:off x="3431704" y="2060848"/>
            <a:ext cx="5760640" cy="2448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0" i="0" dirty="0">
                <a:solidFill>
                  <a:schemeClr val="tx1"/>
                </a:solidFill>
                <a:effectLst/>
                <a:latin typeface="Söhne"/>
              </a:rPr>
              <a:t>Redesign of a bad graph </a:t>
            </a:r>
            <a:r>
              <a:rPr lang="en-US" dirty="0">
                <a:solidFill>
                  <a:schemeClr val="tx1"/>
                </a:solidFill>
                <a:latin typeface="Söhne"/>
              </a:rPr>
              <a:t>is </a:t>
            </a:r>
            <a:r>
              <a:rPr lang="en-US" b="0" i="0" dirty="0">
                <a:solidFill>
                  <a:schemeClr val="tx1"/>
                </a:solidFill>
                <a:effectLst/>
                <a:latin typeface="Söhne"/>
              </a:rPr>
              <a:t>important because a poorly designed graph can be misleading or difficult to understand, which can ultimately lead to incorrect conclusions being drawn from the data. By redesigning the graph, you can ensure that the insights gained from the data are accurate and useful. </a:t>
            </a:r>
            <a:endParaRPr lang="en-US"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{78B6299C-B88B-4F46-80C7-E68E3EC3EFD0}tf10001071</Template>
  <TotalTime>177</TotalTime>
  <Words>61</Words>
  <Application>Microsoft Macintosh PowerPoint</Application>
  <PresentationFormat>Widescreen</PresentationFormat>
  <Paragraphs>5</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Gill Sans MT</vt:lpstr>
      <vt:lpstr>Aptos</vt:lpstr>
      <vt:lpstr>Söhne</vt:lpstr>
      <vt:lpstr>Impact</vt:lpstr>
      <vt:lpstr>Arial</vt:lpstr>
      <vt:lpstr>Badge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cp:lastModifiedBy>Dhavani Avu</cp:lastModifiedBy>
  <cp:revision>7</cp:revision>
  <dcterms:modified xsi:type="dcterms:W3CDTF">2025-04-14T04:49:15Z</dcterms:modified>
</cp:coreProperties>
</file>